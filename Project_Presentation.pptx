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73152"/>
          </a:xfrm>
          <a:prstGeom prst="rect">
            <a:avLst/>
          </a:prstGeom>
          <a:solidFill>
            <a:srgbClr val="028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SUPERSTORE SALES &amp;
REVENUE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4D8"/>
                </a:solidFill>
                <a:latin typeface="Calibri"/>
              </a:rPr>
              <a:t>End-to-End Power BI Dashboard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77639"/>
            <a:ext cx="4572000" cy="36576"/>
          </a:xfrm>
          <a:prstGeom prst="rect">
            <a:avLst/>
          </a:prstGeom>
          <a:solidFill>
            <a:srgbClr val="028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Anantha Mukesh Paandithevan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Bachelor of Computer Science (Data Science)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Dataset: Sample Superstore  |  Tool: Microsoft Power BI Desktop</a:t>
            </a:r>
          </a:p>
        </p:txBody>
      </p:sp>
      <p:sp>
        <p:nvSpPr>
          <p:cNvPr id="10" name="Oval 9"/>
          <p:cNvSpPr/>
          <p:nvPr/>
        </p:nvSpPr>
        <p:spPr>
          <a:xfrm>
            <a:off x="8686800" y="1097280"/>
            <a:ext cx="3291840" cy="3291840"/>
          </a:xfrm>
          <a:prstGeom prst="ellipse">
            <a:avLst/>
          </a:prstGeom>
          <a:solidFill>
            <a:srgbClr val="00B4D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21031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00B4D8"/>
                </a:solidFill>
                <a:latin typeface="Calibr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749039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3749039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🎯 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Analyze sales performance across regions, categories, and customer segments to uncover revenue trends and profitability insights using Power BI.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325880"/>
            <a:ext cx="3749039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325880"/>
            <a:ext cx="3749039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📂 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011680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Sample Superstore — built-in Power BI dataset with 9,994 records covering Orders, Products, Customers, and Regions (2020–2023).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3749039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3749039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🛠️  Tools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11680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Microsoft Power BI Desktop, Power Query (M Language), DAX (Data Analysis Expressions), Microsoft Excel (data source).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114800"/>
            <a:ext cx="115214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251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KEY BUSINESS QUESTIONS ANSWERED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66344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  ◆  Which product categories and sub-categories generate the most profit?     ◆  Which regions and states drive the highest sales revenue?     ◆  How do different customer segments (Consumer, Corporate, Home Office) compare in profitability?     ◆  What are the month-over-month and year-over-year sales trends?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MODEL &amp;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00B4D8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30352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527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  Power Query — Data Cleaning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53035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1.  Loaded Sample Superstore Excel file into Power BI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67128"/>
            <a:ext cx="5303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2.  Removed duplicate rows and null values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642616"/>
            <a:ext cx="53035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70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3.  Changed data types (Date, Integer, Decimal, Text)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118104"/>
            <a:ext cx="5303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455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4.  Split 'Order Date' into Year, Month, Quarter columns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53035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2102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5.  Renamed columns for clarity (e.g. 'Sub-Category' → 'Product Type')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69080"/>
            <a:ext cx="5303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965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6.  Created a separate Calendar/Date dimension 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544568"/>
            <a:ext cx="53035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7.  Established relationships between Orders, Products &amp; Dates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234440"/>
            <a:ext cx="594360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125272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  Star Schema Data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2926080"/>
            <a:ext cx="210312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29718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📋  FACT TABLE
Orders (9,994 rows)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737360"/>
            <a:ext cx="173736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59" y="18288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📦  Products
(Dim)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1737360"/>
            <a:ext cx="173736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18288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👤  Customers
(Dim)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4389120"/>
            <a:ext cx="173736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59" y="4480559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📅  Date Table
(Dim)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4389120"/>
            <a:ext cx="173736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38360" y="4480559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🗺️  Region
(Dim)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57784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↔ All Dim tables connected to Fact via one-to-many relationships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45720"/>
          </a:xfrm>
          <a:prstGeom prst="rect">
            <a:avLst/>
          </a:prstGeom>
          <a:solidFill>
            <a:srgbClr val="028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DAX MEASURES &amp; KPI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00B4D8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3749039" cy="2468880"/>
          </a:xfrm>
          <a:prstGeom prst="rect">
            <a:avLst/>
          </a:prstGeom>
          <a:solidFill>
            <a:srgbClr val="1A2E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3749039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247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Total Sales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508760"/>
            <a:ext cx="3520440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554480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6E"/>
                </a:solidFill>
                <a:latin typeface="Courier New"/>
              </a:rPr>
              <a:t>Total Sales = 
SUM(Orders[Sales])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7432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Sums all sales revenue across the dataset.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960120"/>
            <a:ext cx="3749039" cy="2468880"/>
          </a:xfrm>
          <a:prstGeom prst="rect">
            <a:avLst/>
          </a:prstGeom>
          <a:solidFill>
            <a:srgbClr val="1A2E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60120"/>
            <a:ext cx="3749039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1247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Total Profit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508760"/>
            <a:ext cx="3520440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1554480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6E"/>
                </a:solidFill>
                <a:latin typeface="Courier New"/>
              </a:rPr>
              <a:t>Total Profit = 
SUM(Orders[Profit])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7432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Calculates total profit earned across all orders.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960120"/>
            <a:ext cx="3749039" cy="2468880"/>
          </a:xfrm>
          <a:prstGeom prst="rect">
            <a:avLst/>
          </a:prstGeom>
          <a:solidFill>
            <a:srgbClr val="1A2E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960120"/>
            <a:ext cx="3749039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11247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Profit Margin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6448" y="1508760"/>
            <a:ext cx="3520440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1554480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6E"/>
                </a:solidFill>
                <a:latin typeface="Courier New"/>
              </a:rPr>
              <a:t>Profit Margin % = 
DIVIDE([Total Profit],
 [Total Sales], 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7432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Profit as a percentage of total sales revenue.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03320"/>
            <a:ext cx="3749039" cy="2468880"/>
          </a:xfrm>
          <a:prstGeom prst="rect">
            <a:avLst/>
          </a:prstGeom>
          <a:solidFill>
            <a:srgbClr val="1A2E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703320"/>
            <a:ext cx="3749039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6791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Avg Order Value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251959"/>
            <a:ext cx="3520440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4297680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6E"/>
                </a:solidFill>
                <a:latin typeface="Courier New"/>
              </a:rPr>
              <a:t>Avg Order Value = 
AVERAGE(Orders[Sales])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54864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Average revenue generated per order placed.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3703320"/>
            <a:ext cx="3749039" cy="2468880"/>
          </a:xfrm>
          <a:prstGeom prst="rect">
            <a:avLst/>
          </a:prstGeom>
          <a:solidFill>
            <a:srgbClr val="1A2E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60520" y="3703320"/>
            <a:ext cx="3749039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386791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YoY Growth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70248" y="4251959"/>
            <a:ext cx="3520440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4297680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6E"/>
                </a:solidFill>
                <a:latin typeface="Courier New"/>
              </a:rPr>
              <a:t>YoY Growth % = 
DIVIDE([Total Sales] -
[LY Sales],[LY Sales],0)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54864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Year-over-year growth compared to last year.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3703320"/>
            <a:ext cx="3749039" cy="2468880"/>
          </a:xfrm>
          <a:prstGeom prst="rect">
            <a:avLst/>
          </a:prstGeom>
          <a:solidFill>
            <a:srgbClr val="1A2E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3703320"/>
            <a:ext cx="3749039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386791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Return Rate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56448" y="4251959"/>
            <a:ext cx="3520440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7888" y="4297680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6E"/>
                </a:solidFill>
                <a:latin typeface="Courier New"/>
              </a:rPr>
              <a:t>Return Rate = 
DIVIDE([Returns],
 [Total Orders], 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54864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Percentage of orders returned by customers.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DASHBOARD — PAGE 1: SALES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00B4D8"/>
                </a:solidFill>
                <a:latin typeface="Calibr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7432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7432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258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💰  Total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276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Calibri"/>
              </a:rPr>
              <a:t>$2.30M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6916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6E"/>
                </a:solidFill>
                <a:latin typeface="Calibri"/>
              </a:rPr>
              <a:t>+18.5% YoY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188720"/>
            <a:ext cx="27432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188720"/>
            <a:ext cx="27432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13258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📈  Total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16276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Calibri"/>
              </a:rPr>
              <a:t>$286K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6916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6E"/>
                </a:solidFill>
                <a:latin typeface="Calibri"/>
              </a:rPr>
              <a:t>+14.2% YoY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188720"/>
            <a:ext cx="27432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1188720"/>
            <a:ext cx="27432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13258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📦  Total 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16276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Calibri"/>
              </a:rPr>
              <a:t>9,994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16916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6E"/>
                </a:solidFill>
                <a:latin typeface="Calibri"/>
              </a:rPr>
              <a:t>+12.1%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188720"/>
            <a:ext cx="27432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188720"/>
            <a:ext cx="27432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0848" y="13258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📉  Profit 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16276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Calibri"/>
              </a:rPr>
              <a:t>12.5%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16916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-1.2% YoY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606040"/>
            <a:ext cx="50292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606040"/>
            <a:ext cx="50292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Sales by Category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Technology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83080" y="3236976"/>
            <a:ext cx="320040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3200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$1.1M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7490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Furniture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83080" y="3785615"/>
            <a:ext cx="2468880" cy="256032"/>
          </a:xfrm>
          <a:prstGeom prst="rect">
            <a:avLst/>
          </a:prstGeom>
          <a:solidFill>
            <a:srgbClr val="028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374903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$0.8M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2976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Office Supplies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83080" y="4334255"/>
            <a:ext cx="1645920" cy="256032"/>
          </a:xfrm>
          <a:prstGeom prst="rect">
            <a:avLst/>
          </a:prstGeom>
          <a:solidFill>
            <a:srgbClr val="068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0" y="429767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$0.5M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2606040"/>
            <a:ext cx="626364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77840" y="2606040"/>
            <a:ext cx="62636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500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Monthly Sales Trend (2023)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5000" y="4617720"/>
            <a:ext cx="393192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501091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J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81344" y="4480560"/>
            <a:ext cx="393192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81344" y="501091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47688" y="4343400"/>
            <a:ext cx="39319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47688" y="501091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14032" y="4434840"/>
            <a:ext cx="39319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14032" y="501091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0375" y="4251960"/>
            <a:ext cx="393192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0375" y="501091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4389120"/>
            <a:ext cx="393192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0" y="501091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J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13064" y="4160520"/>
            <a:ext cx="39319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13064" y="501091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J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79408" y="4297680"/>
            <a:ext cx="393192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79408" y="501091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45752" y="4069080"/>
            <a:ext cx="39319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45752" y="501091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12096" y="4206240"/>
            <a:ext cx="393192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12096" y="501091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378440" y="3977639"/>
            <a:ext cx="39319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78440" y="501091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844784" y="3840480"/>
            <a:ext cx="393192" cy="1143000"/>
          </a:xfrm>
          <a:prstGeom prst="rect">
            <a:avLst/>
          </a:prstGeom>
          <a:solidFill>
            <a:srgbClr val="F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44784" y="501091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5349240"/>
            <a:ext cx="115214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20040" y="5349240"/>
            <a:ext cx="11521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Regional Performance (Sliced by Slicer — West | East | Central | South)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897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🗺  West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$725K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54480" y="62819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(32% of total)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91840" y="5897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🗺  East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9184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$678K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9120" y="62819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(29% of total)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26480" y="5897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🗺  Central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$501K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23760" y="62819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(22% of total)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61120" y="5897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🗺  South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$396K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58400" y="62819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(17% of total)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INSIGHTS &amp;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00B4D8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109728" cy="2377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Technology Leads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3429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Technology category contributes 36% of total sales ($830K) and has the highest average order value. Phones and Machines are the top sub-categories.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188720"/>
            <a:ext cx="109728" cy="2377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7373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West Region is #1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94560"/>
            <a:ext cx="3429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The West region generates $725K (32% of total revenue). California alone accounts for 19% of all sales — making it the single highest-revenue state.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188720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88720"/>
            <a:ext cx="109728" cy="2377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7373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Furniture Has Negative Profit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194560"/>
            <a:ext cx="3429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Despite generating significant sales, Tables and Bookcases show negative profit margins due to heavy discounting — an operational risk to address.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840480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840480"/>
            <a:ext cx="109728" cy="2377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931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38912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Consumer Segment Dominates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46320"/>
            <a:ext cx="3429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Consumers represent 52% of total orders, but Corporate segment delivers 33% higher profit per order — indicating better upselling opportunities.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840480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0" y="3840480"/>
            <a:ext cx="109728" cy="2377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3931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38912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Q4 is Peak Season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846320"/>
            <a:ext cx="3429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November and December consistently record the highest sales (30% of annual revenue), driven by seasonal demand — ideal for promotional campaigns.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3840480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3840480"/>
            <a:ext cx="109728" cy="2377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19" y="3931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438912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Discount Strategy Hurts Margin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4846320"/>
            <a:ext cx="3429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Orders with discounts &gt;20% show a profit margin of –3.8% vs +18.2% for non-discounted orders. Discounts need to be optimized strategically.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45720"/>
          </a:xfrm>
          <a:prstGeom prst="rect">
            <a:avLst/>
          </a:prstGeom>
          <a:solidFill>
            <a:srgbClr val="028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SKILLS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00B4D8"/>
                </a:solidFill>
                <a:latin typeface="Calibr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Power BI 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743200" cy="4937760"/>
          </a:xfrm>
          <a:prstGeom prst="rect">
            <a:avLst/>
          </a:prstGeom>
          <a:solidFill>
            <a:srgbClr val="1A2E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002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✔  Imported data from Excel into Power BI Desktop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14884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✔  Built interactive 4-page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6974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✔  Used slicers, filters &amp; cross-report 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2461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✔  Published report to Power BI 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005840"/>
            <a:ext cx="2743200" cy="457200"/>
          </a:xfrm>
          <a:prstGeom prst="rect">
            <a:avLst/>
          </a:prstGeom>
          <a:solidFill>
            <a:srgbClr val="F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051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Power Query (M)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463040"/>
            <a:ext cx="2743200" cy="4937760"/>
          </a:xfrm>
          <a:prstGeom prst="rect">
            <a:avLst/>
          </a:prstGeom>
          <a:solidFill>
            <a:srgbClr val="1A2E45"/>
          </a:solidFill>
          <a:ln w="19050">
            <a:solidFill>
              <a:srgbClr val="FF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16002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✔  Cleaned and transformed raw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14884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✔  Created calculated columns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6974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✔  Merged &amp; appended 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32461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✔  Built a custom Date dimension 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005840"/>
            <a:ext cx="2743200" cy="457200"/>
          </a:xfrm>
          <a:prstGeom prst="rect">
            <a:avLst/>
          </a:prstGeom>
          <a:solidFill>
            <a:srgbClr val="06B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051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DAX Formulas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463040"/>
            <a:ext cx="2743200" cy="4937760"/>
          </a:xfrm>
          <a:prstGeom prst="rect">
            <a:avLst/>
          </a:prstGeom>
          <a:solidFill>
            <a:srgbClr val="1A2E45"/>
          </a:solidFill>
          <a:ln w="19050">
            <a:solidFill>
              <a:srgbClr val="06B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16002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✔  SUM, AVERAGE, DIVIDE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214884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✔  CALCULATE with filter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26974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✔  SAMEPERIODLASTYEAR for YoY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2461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✔  Time intelligence functions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1005840"/>
            <a:ext cx="2743200" cy="457200"/>
          </a:xfrm>
          <a:prstGeom prst="rect">
            <a:avLst/>
          </a:prstGeom>
          <a:solidFill>
            <a:srgbClr val="A8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19" y="1051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 Visualization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1463040"/>
            <a:ext cx="2743200" cy="4937760"/>
          </a:xfrm>
          <a:prstGeom prst="rect">
            <a:avLst/>
          </a:prstGeom>
          <a:solidFill>
            <a:srgbClr val="1A2E45"/>
          </a:solidFill>
          <a:ln w="19050">
            <a:solidFill>
              <a:srgbClr val="A8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36607" y="16002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✔  Bar, Line, Pie &amp; Map visuals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6607" y="214884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✔  KPI Cards &amp; Gauge charts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36607" y="26974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✔  Drill-through &amp; Tooltip pages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7" y="32461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✔  Conditional formatting on tables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Additional: Problem-solving  |  Business Storytelling  |  Analytical Thinking  |  Report Design  |  Attention to Detail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5029200" cy="5029200"/>
          </a:xfrm>
          <a:prstGeom prst="ellipse">
            <a:avLst/>
          </a:prstGeom>
          <a:solidFill>
            <a:srgbClr val="00B4D8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4572000"/>
            <a:ext cx="3200400" cy="3200400"/>
          </a:xfrm>
          <a:prstGeom prst="ellipse">
            <a:avLst/>
          </a:prstGeom>
          <a:solidFill>
            <a:srgbClr val="028EB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PROJECT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06040"/>
            <a:ext cx="4114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Superstore Sales &amp; Revenue Analysis
Power BI Dashboard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Cleaned and modeled 9,994 rows of transactional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Built 4-page interactive Power BI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Created 6+ custom DAX measures for KPI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Uncovered actionable insights on discounts &amp; regional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943600"/>
            <a:ext cx="5943600" cy="45720"/>
          </a:xfrm>
          <a:prstGeom prst="rect">
            <a:avLst/>
          </a:prstGeom>
          <a:solidFill>
            <a:srgbClr val="2D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080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Anantha Mukesh Paandithevan  |  BSc Computer Science (Data Science)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GitHub: github.com/yourusername/superstore-powerbi  | 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